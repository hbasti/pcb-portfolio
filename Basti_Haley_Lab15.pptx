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2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6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99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5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1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5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6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4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7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44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1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7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bstract design of flower petals in pastel">
            <a:extLst>
              <a:ext uri="{FF2B5EF4-FFF2-40B4-BE49-F238E27FC236}">
                <a16:creationId xmlns:a16="http://schemas.microsoft.com/office/drawing/2014/main" id="{BC1F048B-12F3-8FB4-A139-9DCC653D4E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122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2C23FB-3406-8CB5-D876-25A738E26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Lab 15: Switching Noise 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D335A-D9AB-BF86-4517-0EDA90B97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Haley Basti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30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3E495-7250-8D67-A929-98C654A56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0CEAE-BA23-FAFA-711E-EEB4C099F91B}"/>
              </a:ext>
            </a:extLst>
          </p:cNvPr>
          <p:cNvSpPr txBox="1"/>
          <p:nvPr/>
        </p:nvSpPr>
        <p:spPr>
          <a:xfrm>
            <a:off x="400510" y="2143274"/>
            <a:ext cx="73732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goal of this lab was to explore the results of good design practices of a shared return plane and a decoupling capacitor placed close to the DUT, versus two bad ones: having the decoupling capacitor placed far away from the DUT, and one with the same decoupling capacitor placement as well as not having a return plane, as seen in the image to the right.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rise time as well as voltage rail collapse (peak-to-peak voltage) were the metrics measured in this lab. </a:t>
            </a:r>
          </a:p>
        </p:txBody>
      </p:sp>
      <p:pic>
        <p:nvPicPr>
          <p:cNvPr id="11" name="Picture 10" descr="A hand holding a green circuit board&#10;&#10;AI-generated content may be incorrect.">
            <a:extLst>
              <a:ext uri="{FF2B5EF4-FFF2-40B4-BE49-F238E27FC236}">
                <a16:creationId xmlns:a16="http://schemas.microsoft.com/office/drawing/2014/main" id="{08ED65BC-D5B5-EB07-9510-ACD761228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23" t="22030" r="15034" b="30217"/>
          <a:stretch>
            <a:fillRect/>
          </a:stretch>
        </p:blipFill>
        <p:spPr>
          <a:xfrm>
            <a:off x="8417901" y="1141610"/>
            <a:ext cx="3252891" cy="327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4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0548-9160-DAF5-CE5F-01AAB65E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563F-B10C-025B-27A8-BA686B555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pic>
        <p:nvPicPr>
          <p:cNvPr id="6" name="Content Placeholder 5" descr="A green circuit board with wires and wires&#10;&#10;AI-generated content may be incorrect.">
            <a:extLst>
              <a:ext uri="{FF2B5EF4-FFF2-40B4-BE49-F238E27FC236}">
                <a16:creationId xmlns:a16="http://schemas.microsoft.com/office/drawing/2014/main" id="{50D39FB2-9F41-42AE-A2D3-3D0918274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1" b="21083"/>
          <a:stretch>
            <a:fillRect/>
          </a:stretch>
        </p:blipFill>
        <p:spPr>
          <a:xfrm>
            <a:off x="8686998" y="1018761"/>
            <a:ext cx="2825353" cy="244999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639EFD-0BCF-FA1D-DF26-43B0AD3B276C}"/>
              </a:ext>
            </a:extLst>
          </p:cNvPr>
          <p:cNvSpPr txBox="1"/>
          <p:nvPr/>
        </p:nvSpPr>
        <p:spPr>
          <a:xfrm>
            <a:off x="413468" y="2130950"/>
            <a:ext cx="7800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Rise times collected during clock switching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Peak-to-peak voltage transition was measured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Bad_cap</a:t>
            </a:r>
            <a:r>
              <a:rPr lang="en-US" sz="2400" dirty="0"/>
              <a:t> was 1.7x slower with a 3.6x rail collapse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Bad_bad</a:t>
            </a:r>
            <a:r>
              <a:rPr lang="en-US" sz="2400" dirty="0"/>
              <a:t> was 2.3x slower with a 4.4x rail collapse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8572B2-7228-E8D1-8D19-EFAD4A531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095935"/>
              </p:ext>
            </p:extLst>
          </p:nvPr>
        </p:nvGraphicFramePr>
        <p:xfrm>
          <a:off x="2183075" y="4202337"/>
          <a:ext cx="8127999" cy="14833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05937780"/>
                    </a:ext>
                  </a:extLst>
                </a:gridCol>
                <a:gridCol w="1961616">
                  <a:extLst>
                    <a:ext uri="{9D8B030D-6E8A-4147-A177-3AD203B41FA5}">
                      <a16:colId xmlns:a16="http://schemas.microsoft.com/office/drawing/2014/main" val="2073983607"/>
                    </a:ext>
                  </a:extLst>
                </a:gridCol>
                <a:gridCol w="3457050">
                  <a:extLst>
                    <a:ext uri="{9D8B030D-6E8A-4147-A177-3AD203B41FA5}">
                      <a16:colId xmlns:a16="http://schemas.microsoft.com/office/drawing/2014/main" val="2843254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Rise time (ns)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Voltage rail </a:t>
                      </a:r>
                      <a:r>
                        <a:rPr lang="en-US" dirty="0" err="1"/>
                        <a:t>collape</a:t>
                      </a:r>
                      <a:r>
                        <a:rPr lang="en-US" dirty="0"/>
                        <a:t> (mV)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5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253.8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659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Bad – decoupling cap far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67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Bad – no return plane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1120.6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1705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69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4FA1A-F9CA-0E86-7F98-172B2375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CEC91-BA94-C5FB-7D1D-9C2D6089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6F9DC-3A7A-F07C-8479-FE01F73E634F}"/>
              </a:ext>
            </a:extLst>
          </p:cNvPr>
          <p:cNvSpPr txBox="1"/>
          <p:nvPr/>
        </p:nvSpPr>
        <p:spPr>
          <a:xfrm>
            <a:off x="421419" y="2055498"/>
            <a:ext cx="95208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simple design allows us to see the effects of not having a return plane as well as how moving the decoupling capacitor far away can negatively impact the switching noise of the DUT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Future board designs will have a decoupling capacitor close to the power rail as well as a return plane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5DB8C0-762F-8C82-1D5A-70FA2C423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656767"/>
              </p:ext>
            </p:extLst>
          </p:nvPr>
        </p:nvGraphicFramePr>
        <p:xfrm>
          <a:off x="2183075" y="4202337"/>
          <a:ext cx="8127999" cy="14833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05937780"/>
                    </a:ext>
                  </a:extLst>
                </a:gridCol>
                <a:gridCol w="1961616">
                  <a:extLst>
                    <a:ext uri="{9D8B030D-6E8A-4147-A177-3AD203B41FA5}">
                      <a16:colId xmlns:a16="http://schemas.microsoft.com/office/drawing/2014/main" val="2073983607"/>
                    </a:ext>
                  </a:extLst>
                </a:gridCol>
                <a:gridCol w="3457050">
                  <a:extLst>
                    <a:ext uri="{9D8B030D-6E8A-4147-A177-3AD203B41FA5}">
                      <a16:colId xmlns:a16="http://schemas.microsoft.com/office/drawing/2014/main" val="2843254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Rise time (ns)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Voltage rail </a:t>
                      </a:r>
                      <a:r>
                        <a:rPr lang="en-US" dirty="0" err="1"/>
                        <a:t>collape</a:t>
                      </a:r>
                      <a:r>
                        <a:rPr lang="en-US" dirty="0"/>
                        <a:t> (mV)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5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659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Bad – decoupling cap far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67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Bad – no return plane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2.3x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1705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60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1BDE7872-3447-B373-4692-9583260C2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44633"/>
            <a:ext cx="4099891" cy="3113840"/>
          </a:xfrm>
          <a:prstGeom prst="rect">
            <a:avLst/>
          </a:prstGeom>
        </p:spPr>
      </p:pic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C91FBEB9-C658-6D87-BF30-63A1AABEA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223" y="2944633"/>
            <a:ext cx="3874006" cy="3113840"/>
          </a:xfrm>
          <a:prstGeom prst="rect">
            <a:avLst/>
          </a:prstGeom>
        </p:spPr>
      </p:pic>
      <p:pic>
        <p:nvPicPr>
          <p:cNvPr id="9" name="Picture 8" descr="A screen shot of a graph&#10;&#10;AI-generated content may be incorrect.">
            <a:extLst>
              <a:ext uri="{FF2B5EF4-FFF2-40B4-BE49-F238E27FC236}">
                <a16:creationId xmlns:a16="http://schemas.microsoft.com/office/drawing/2014/main" id="{0E87E04F-CD0C-A843-7BA7-63AD74D4A1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61" y="2944633"/>
            <a:ext cx="3999439" cy="31138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F52F68-C2B4-6638-EC27-F59BC2E69A8F}"/>
              </a:ext>
            </a:extLst>
          </p:cNvPr>
          <p:cNvSpPr txBox="1"/>
          <p:nvPr/>
        </p:nvSpPr>
        <p:spPr>
          <a:xfrm>
            <a:off x="644056" y="2393343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E78C7-3E35-863E-4C99-40BBC96796E6}"/>
              </a:ext>
            </a:extLst>
          </p:cNvPr>
          <p:cNvSpPr txBox="1"/>
          <p:nvPr/>
        </p:nvSpPr>
        <p:spPr>
          <a:xfrm>
            <a:off x="4595854" y="2472856"/>
            <a:ext cx="3181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Bad - decoupling cap far away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D520F-204C-CE24-15CC-1C0184288D11}"/>
              </a:ext>
            </a:extLst>
          </p:cNvPr>
          <p:cNvSpPr txBox="1"/>
          <p:nvPr/>
        </p:nvSpPr>
        <p:spPr>
          <a:xfrm>
            <a:off x="9414344" y="2472856"/>
            <a:ext cx="223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Bad -no return plane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5A687-2ECF-8C3A-2A7B-EC88488471B9}"/>
              </a:ext>
            </a:extLst>
          </p:cNvPr>
          <p:cNvSpPr txBox="1"/>
          <p:nvPr/>
        </p:nvSpPr>
        <p:spPr>
          <a:xfrm>
            <a:off x="692106" y="996393"/>
            <a:ext cx="35171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Full Results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1E1767-286F-F6E9-F8DB-0668B19AC7B0}"/>
              </a:ext>
            </a:extLst>
          </p:cNvPr>
          <p:cNvSpPr txBox="1"/>
          <p:nvPr/>
        </p:nvSpPr>
        <p:spPr>
          <a:xfrm>
            <a:off x="3048000" y="32455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Full Results</a:t>
            </a:r>
          </a:p>
        </p:txBody>
      </p:sp>
    </p:spTree>
    <p:extLst>
      <p:ext uri="{BB962C8B-B14F-4D97-AF65-F5344CB8AC3E}">
        <p14:creationId xmlns:p14="http://schemas.microsoft.com/office/powerpoint/2010/main" val="392440951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262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Bierstadt</vt:lpstr>
      <vt:lpstr>GestaltVTI</vt:lpstr>
      <vt:lpstr>Lab 15: Switching Noise Board</vt:lpstr>
      <vt:lpstr>Overview</vt:lpstr>
      <vt:lpstr>Key findings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Haley Basti</dc:creator>
  <cp:lastModifiedBy>Haley Basti</cp:lastModifiedBy>
  <cp:revision>1</cp:revision>
  <dcterms:created xsi:type="dcterms:W3CDTF">2025-10-06T14:54:11Z</dcterms:created>
  <dcterms:modified xsi:type="dcterms:W3CDTF">2025-10-06T18:58:11Z</dcterms:modified>
</cp:coreProperties>
</file>