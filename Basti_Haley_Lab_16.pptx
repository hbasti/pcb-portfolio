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0C4D"/>
    <a:srgbClr val="F12F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4488C-FE51-4039-BDDF-8B77792663EF}" v="161" dt="2025-10-28T15:46:18.1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7" d="100"/>
          <a:sy n="77" d="100"/>
        </p:scale>
        <p:origin x="4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ey Basti" userId="2923bdfa-ff20-48a9-9076-99df68ee6026" providerId="ADAL" clId="{342448CC-594A-44B0-B7B4-9EF3F54CA733}"/>
    <pc:docChg chg="undo custSel addSld modSld">
      <pc:chgData name="Haley Basti" userId="2923bdfa-ff20-48a9-9076-99df68ee6026" providerId="ADAL" clId="{342448CC-594A-44B0-B7B4-9EF3F54CA733}" dt="2025-10-28T15:46:26.849" v="3379" actId="732"/>
      <pc:docMkLst>
        <pc:docMk/>
      </pc:docMkLst>
      <pc:sldChg chg="modSp mod">
        <pc:chgData name="Haley Basti" userId="2923bdfa-ff20-48a9-9076-99df68ee6026" providerId="ADAL" clId="{342448CC-594A-44B0-B7B4-9EF3F54CA733}" dt="2025-10-28T15:15:06.992" v="2622" actId="20577"/>
        <pc:sldMkLst>
          <pc:docMk/>
          <pc:sldMk cId="669930038" sldId="256"/>
        </pc:sldMkLst>
        <pc:spChg chg="mod">
          <ac:chgData name="Haley Basti" userId="2923bdfa-ff20-48a9-9076-99df68ee6026" providerId="ADAL" clId="{342448CC-594A-44B0-B7B4-9EF3F54CA733}" dt="2025-10-28T15:15:06.992" v="2622" actId="20577"/>
          <ac:spMkLst>
            <pc:docMk/>
            <pc:sldMk cId="669930038" sldId="256"/>
            <ac:spMk id="2" creationId="{672C23FB-3406-8CB5-D876-25A738E26803}"/>
          </ac:spMkLst>
        </pc:spChg>
      </pc:sldChg>
      <pc:sldChg chg="modSp mod">
        <pc:chgData name="Haley Basti" userId="2923bdfa-ff20-48a9-9076-99df68ee6026" providerId="ADAL" clId="{342448CC-594A-44B0-B7B4-9EF3F54CA733}" dt="2025-10-28T03:10:20.688" v="1429" actId="20577"/>
        <pc:sldMkLst>
          <pc:docMk/>
          <pc:sldMk cId="2141946453" sldId="257"/>
        </pc:sldMkLst>
        <pc:spChg chg="mod">
          <ac:chgData name="Haley Basti" userId="2923bdfa-ff20-48a9-9076-99df68ee6026" providerId="ADAL" clId="{342448CC-594A-44B0-B7B4-9EF3F54CA733}" dt="2025-10-28T03:10:20.688" v="1429" actId="20577"/>
          <ac:spMkLst>
            <pc:docMk/>
            <pc:sldMk cId="2141946453" sldId="257"/>
            <ac:spMk id="7" creationId="{ED30CEAE-BA23-FAFA-711E-EEB4C099F91B}"/>
          </ac:spMkLst>
        </pc:spChg>
      </pc:sldChg>
      <pc:sldChg chg="addSp delSp modSp mod">
        <pc:chgData name="Haley Basti" userId="2923bdfa-ff20-48a9-9076-99df68ee6026" providerId="ADAL" clId="{342448CC-594A-44B0-B7B4-9EF3F54CA733}" dt="2025-10-28T15:18:01.720" v="2734" actId="20577"/>
        <pc:sldMkLst>
          <pc:docMk/>
          <pc:sldMk cId="2619696533" sldId="258"/>
        </pc:sldMkLst>
        <pc:spChg chg="mod">
          <ac:chgData name="Haley Basti" userId="2923bdfa-ff20-48a9-9076-99df68ee6026" providerId="ADAL" clId="{342448CC-594A-44B0-B7B4-9EF3F54CA733}" dt="2025-10-28T03:04:04.389" v="1031" actId="20577"/>
          <ac:spMkLst>
            <pc:docMk/>
            <pc:sldMk cId="2619696533" sldId="258"/>
            <ac:spMk id="2" creationId="{15AC563F-B10C-025B-27A8-BA686B5559A2}"/>
          </ac:spMkLst>
        </pc:spChg>
        <pc:spChg chg="add del mod">
          <ac:chgData name="Haley Basti" userId="2923bdfa-ff20-48a9-9076-99df68ee6026" providerId="ADAL" clId="{342448CC-594A-44B0-B7B4-9EF3F54CA733}" dt="2025-10-28T03:03:45.937" v="991"/>
          <ac:spMkLst>
            <pc:docMk/>
            <pc:sldMk cId="2619696533" sldId="258"/>
            <ac:spMk id="7" creationId="{CDB11B6C-4DCD-9E9D-7026-42C2E6CFBF1B}"/>
          </ac:spMkLst>
        </pc:spChg>
        <pc:spChg chg="add mod">
          <ac:chgData name="Haley Basti" userId="2923bdfa-ff20-48a9-9076-99df68ee6026" providerId="ADAL" clId="{342448CC-594A-44B0-B7B4-9EF3F54CA733}" dt="2025-10-28T15:18:01.720" v="2734" actId="20577"/>
          <ac:spMkLst>
            <pc:docMk/>
            <pc:sldMk cId="2619696533" sldId="258"/>
            <ac:spMk id="8" creationId="{33A09476-BB93-7768-2EB9-782751823ABC}"/>
          </ac:spMkLst>
        </pc:spChg>
      </pc:sldChg>
      <pc:sldChg chg="addSp modSp mod">
        <pc:chgData name="Haley Basti" userId="2923bdfa-ff20-48a9-9076-99df68ee6026" providerId="ADAL" clId="{342448CC-594A-44B0-B7B4-9EF3F54CA733}" dt="2025-10-28T15:17:23.475" v="2724" actId="20577"/>
        <pc:sldMkLst>
          <pc:docMk/>
          <pc:sldMk cId="3924409519" sldId="259"/>
        </pc:sldMkLst>
        <pc:spChg chg="add mod">
          <ac:chgData name="Haley Basti" userId="2923bdfa-ff20-48a9-9076-99df68ee6026" providerId="ADAL" clId="{342448CC-594A-44B0-B7B4-9EF3F54CA733}" dt="2025-10-28T15:17:23.475" v="2724" actId="20577"/>
          <ac:spMkLst>
            <pc:docMk/>
            <pc:sldMk cId="3924409519" sldId="259"/>
            <ac:spMk id="6" creationId="{9EE625C5-3334-85BA-D2A4-44696A990719}"/>
          </ac:spMkLst>
        </pc:spChg>
        <pc:spChg chg="mod">
          <ac:chgData name="Haley Basti" userId="2923bdfa-ff20-48a9-9076-99df68ee6026" providerId="ADAL" clId="{342448CC-594A-44B0-B7B4-9EF3F54CA733}" dt="2025-10-28T03:00:19.115" v="508" actId="1076"/>
          <ac:spMkLst>
            <pc:docMk/>
            <pc:sldMk cId="3924409519" sldId="259"/>
            <ac:spMk id="10" creationId="{8AF52F68-C2B4-6638-EC27-F59BC2E69A8F}"/>
          </ac:spMkLst>
        </pc:spChg>
        <pc:picChg chg="mod">
          <ac:chgData name="Haley Basti" userId="2923bdfa-ff20-48a9-9076-99df68ee6026" providerId="ADAL" clId="{342448CC-594A-44B0-B7B4-9EF3F54CA733}" dt="2025-10-28T03:00:15.156" v="507" actId="1076"/>
          <ac:picMkLst>
            <pc:docMk/>
            <pc:sldMk cId="3924409519" sldId="259"/>
            <ac:picMk id="5" creationId="{9BDF2DD5-5631-0A71-04FD-595EAC1ACE95}"/>
          </ac:picMkLst>
        </pc:picChg>
      </pc:sldChg>
      <pc:sldChg chg="modSp mod">
        <pc:chgData name="Haley Basti" userId="2923bdfa-ff20-48a9-9076-99df68ee6026" providerId="ADAL" clId="{342448CC-594A-44B0-B7B4-9EF3F54CA733}" dt="2025-10-28T15:14:21.344" v="2579" actId="20577"/>
        <pc:sldMkLst>
          <pc:docMk/>
          <pc:sldMk cId="2184608427" sldId="260"/>
        </pc:sldMkLst>
        <pc:spChg chg="mod">
          <ac:chgData name="Haley Basti" userId="2923bdfa-ff20-48a9-9076-99df68ee6026" providerId="ADAL" clId="{342448CC-594A-44B0-B7B4-9EF3F54CA733}" dt="2025-10-28T15:14:21.344" v="2579" actId="20577"/>
          <ac:spMkLst>
            <pc:docMk/>
            <pc:sldMk cId="2184608427" sldId="260"/>
            <ac:spMk id="5" creationId="{A3185D97-8FCF-B210-2894-359BAB4799CD}"/>
          </ac:spMkLst>
        </pc:spChg>
      </pc:sldChg>
      <pc:sldChg chg="addSp delSp modSp new mod">
        <pc:chgData name="Haley Basti" userId="2923bdfa-ff20-48a9-9076-99df68ee6026" providerId="ADAL" clId="{342448CC-594A-44B0-B7B4-9EF3F54CA733}" dt="2025-10-28T15:46:26.849" v="3379" actId="732"/>
        <pc:sldMkLst>
          <pc:docMk/>
          <pc:sldMk cId="621618459" sldId="261"/>
        </pc:sldMkLst>
        <pc:spChg chg="mod">
          <ac:chgData name="Haley Basti" userId="2923bdfa-ff20-48a9-9076-99df68ee6026" providerId="ADAL" clId="{342448CC-594A-44B0-B7B4-9EF3F54CA733}" dt="2025-10-28T15:20:53.568" v="2756" actId="20577"/>
          <ac:spMkLst>
            <pc:docMk/>
            <pc:sldMk cId="621618459" sldId="261"/>
            <ac:spMk id="2" creationId="{D64A8AA3-D0DE-8E4C-541D-94E8DC2BC186}"/>
          </ac:spMkLst>
        </pc:spChg>
        <pc:spChg chg="mod">
          <ac:chgData name="Haley Basti" userId="2923bdfa-ff20-48a9-9076-99df68ee6026" providerId="ADAL" clId="{342448CC-594A-44B0-B7B4-9EF3F54CA733}" dt="2025-10-28T15:46:18.163" v="3378" actId="20577"/>
          <ac:spMkLst>
            <pc:docMk/>
            <pc:sldMk cId="621618459" sldId="261"/>
            <ac:spMk id="3" creationId="{51E14854-5FF8-904F-CE57-D4F0687E5E09}"/>
          </ac:spMkLst>
        </pc:spChg>
        <pc:picChg chg="add del">
          <ac:chgData name="Haley Basti" userId="2923bdfa-ff20-48a9-9076-99df68ee6026" providerId="ADAL" clId="{342448CC-594A-44B0-B7B4-9EF3F54CA733}" dt="2025-10-28T15:34:56.203" v="3142" actId="22"/>
          <ac:picMkLst>
            <pc:docMk/>
            <pc:sldMk cId="621618459" sldId="261"/>
            <ac:picMk id="5" creationId="{00A491E3-97CE-A8EE-B63D-0E055B3A36B1}"/>
          </ac:picMkLst>
        </pc:picChg>
        <pc:picChg chg="add del mod">
          <ac:chgData name="Haley Basti" userId="2923bdfa-ff20-48a9-9076-99df68ee6026" providerId="ADAL" clId="{342448CC-594A-44B0-B7B4-9EF3F54CA733}" dt="2025-10-28T15:35:29.119" v="3147" actId="478"/>
          <ac:picMkLst>
            <pc:docMk/>
            <pc:sldMk cId="621618459" sldId="261"/>
            <ac:picMk id="7" creationId="{BB72C57B-D945-1813-06F2-54DE9D907F13}"/>
          </ac:picMkLst>
        </pc:picChg>
        <pc:picChg chg="add mod modCrop">
          <ac:chgData name="Haley Basti" userId="2923bdfa-ff20-48a9-9076-99df68ee6026" providerId="ADAL" clId="{342448CC-594A-44B0-B7B4-9EF3F54CA733}" dt="2025-10-28T15:46:26.849" v="3379" actId="732"/>
          <ac:picMkLst>
            <pc:docMk/>
            <pc:sldMk cId="621618459" sldId="261"/>
            <ac:picMk id="9" creationId="{720A11F3-001F-B7B5-AADA-E67389307CF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3922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0046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89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3125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12712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3265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862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9294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9374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864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10/28/2025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731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10/28/2025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1357638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bstract design of flower petals in pastel">
            <a:extLst>
              <a:ext uri="{FF2B5EF4-FFF2-40B4-BE49-F238E27FC236}">
                <a16:creationId xmlns:a16="http://schemas.microsoft.com/office/drawing/2014/main" id="{BC1F048B-12F3-8FB4-A139-9DCC653D4ECE}"/>
              </a:ext>
            </a:extLst>
          </p:cNvPr>
          <p:cNvPicPr>
            <a:picLocks noChangeAspect="1"/>
          </p:cNvPicPr>
          <p:nvPr/>
        </p:nvPicPr>
        <p:blipFill>
          <a:blip r:embed="rId2">
            <a:alphaModFix amt="40000"/>
          </a:blip>
          <a:srcRect t="14122"/>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672C23FB-3406-8CB5-D876-25A738E26803}"/>
              </a:ext>
            </a:extLst>
          </p:cNvPr>
          <p:cNvSpPr>
            <a:spLocks noGrp="1"/>
          </p:cNvSpPr>
          <p:nvPr>
            <p:ph type="ctrTitle"/>
          </p:nvPr>
        </p:nvSpPr>
        <p:spPr>
          <a:xfrm>
            <a:off x="517870" y="978407"/>
            <a:ext cx="5021182" cy="3290107"/>
          </a:xfrm>
        </p:spPr>
        <p:txBody>
          <a:bodyPr anchor="t">
            <a:normAutofit fontScale="90000"/>
          </a:bodyPr>
          <a:lstStyle/>
          <a:p>
            <a:r>
              <a:rPr lang="en-US" sz="6000" dirty="0">
                <a:solidFill>
                  <a:srgbClr val="FFFFFF"/>
                </a:solidFill>
              </a:rPr>
              <a:t>Lab 16: </a:t>
            </a:r>
            <a:br>
              <a:rPr lang="en-US" sz="6000" dirty="0">
                <a:solidFill>
                  <a:srgbClr val="FFFFFF"/>
                </a:solidFill>
              </a:rPr>
            </a:br>
            <a:r>
              <a:rPr lang="en-US" sz="6000" dirty="0">
                <a:solidFill>
                  <a:srgbClr val="FFFFFF"/>
                </a:solidFill>
              </a:rPr>
              <a:t>Differential and SE voltage measurements</a:t>
            </a:r>
          </a:p>
        </p:txBody>
      </p:sp>
      <p:sp>
        <p:nvSpPr>
          <p:cNvPr id="3" name="Subtitle 2">
            <a:extLst>
              <a:ext uri="{FF2B5EF4-FFF2-40B4-BE49-F238E27FC236}">
                <a16:creationId xmlns:a16="http://schemas.microsoft.com/office/drawing/2014/main" id="{F4CD335A-D9AB-BF86-4517-0EDA90B974F7}"/>
              </a:ext>
            </a:extLst>
          </p:cNvPr>
          <p:cNvSpPr>
            <a:spLocks noGrp="1"/>
          </p:cNvSpPr>
          <p:nvPr>
            <p:ph type="subTitle" idx="1"/>
          </p:nvPr>
        </p:nvSpPr>
        <p:spPr>
          <a:xfrm>
            <a:off x="517870" y="4482450"/>
            <a:ext cx="5040785" cy="1724029"/>
          </a:xfrm>
        </p:spPr>
        <p:txBody>
          <a:bodyPr anchor="t">
            <a:normAutofit/>
          </a:bodyPr>
          <a:lstStyle/>
          <a:p>
            <a:r>
              <a:rPr lang="en-US" sz="2400" dirty="0">
                <a:solidFill>
                  <a:srgbClr val="FFFFFF"/>
                </a:solidFill>
              </a:rPr>
              <a:t>Haley Basti</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993003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E495-7250-8D67-A929-98C654A56896}"/>
              </a:ext>
            </a:extLst>
          </p:cNvPr>
          <p:cNvSpPr>
            <a:spLocks noGrp="1"/>
          </p:cNvSpPr>
          <p:nvPr>
            <p:ph type="title"/>
          </p:nvPr>
        </p:nvSpPr>
        <p:spPr/>
        <p:txBody>
          <a:bodyPr/>
          <a:lstStyle/>
          <a:p>
            <a:r>
              <a:rPr lang="en-US" dirty="0"/>
              <a:t>Overview</a:t>
            </a:r>
          </a:p>
        </p:txBody>
      </p:sp>
      <p:sp>
        <p:nvSpPr>
          <p:cNvPr id="7" name="TextBox 6">
            <a:extLst>
              <a:ext uri="{FF2B5EF4-FFF2-40B4-BE49-F238E27FC236}">
                <a16:creationId xmlns:a16="http://schemas.microsoft.com/office/drawing/2014/main" id="{ED30CEAE-BA23-FAFA-711E-EEB4C099F91B}"/>
              </a:ext>
            </a:extLst>
          </p:cNvPr>
          <p:cNvSpPr txBox="1"/>
          <p:nvPr/>
        </p:nvSpPr>
        <p:spPr>
          <a:xfrm>
            <a:off x="400510" y="2143274"/>
            <a:ext cx="1127028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goal of this lab was to understand the difference between taking voltage measurements using the differential and single-ended method, and how these measurements effect the accuracy of the measured signal. </a:t>
            </a:r>
          </a:p>
          <a:p>
            <a:pPr marL="285750" indent="-285750">
              <a:buFont typeface="Arial" panose="020B0604020202020204" pitchFamily="34" charset="0"/>
              <a:buChar char="•"/>
            </a:pPr>
            <a:r>
              <a:rPr lang="en-US" sz="2400" dirty="0"/>
              <a:t>To demonstrate this, we measured the output voltage of a TMP36 temperature sensor with reference to the ADS1115 ADC by injecting some noise into its return path to ground. </a:t>
            </a:r>
          </a:p>
          <a:p>
            <a:pPr marL="285750" indent="-285750">
              <a:buFont typeface="Arial" panose="020B0604020202020204" pitchFamily="34" charset="0"/>
              <a:buChar char="•"/>
            </a:pPr>
            <a:r>
              <a:rPr lang="en-US" sz="2400" dirty="0"/>
              <a:t> The noise injected into the system was produced by a 20 </a:t>
            </a:r>
            <a:r>
              <a:rPr lang="en-US" sz="2400" dirty="0" err="1"/>
              <a:t>Vpp</a:t>
            </a:r>
            <a:r>
              <a:rPr lang="en-US" sz="2400" dirty="0"/>
              <a:t> 1 Hz sine wave signal between the ADS1115 ground and the TMP36 ground.</a:t>
            </a:r>
          </a:p>
          <a:p>
            <a:endParaRPr lang="en-US" sz="2400" dirty="0"/>
          </a:p>
        </p:txBody>
      </p:sp>
    </p:spTree>
    <p:extLst>
      <p:ext uri="{BB962C8B-B14F-4D97-AF65-F5344CB8AC3E}">
        <p14:creationId xmlns:p14="http://schemas.microsoft.com/office/powerpoint/2010/main" val="2141946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0548-9160-DAF5-CE5F-01AAB65E0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C563F-B10C-025B-27A8-BA686B5559A2}"/>
              </a:ext>
            </a:extLst>
          </p:cNvPr>
          <p:cNvSpPr>
            <a:spLocks noGrp="1"/>
          </p:cNvSpPr>
          <p:nvPr>
            <p:ph type="title"/>
          </p:nvPr>
        </p:nvSpPr>
        <p:spPr>
          <a:xfrm>
            <a:off x="521208" y="978408"/>
            <a:ext cx="7384240" cy="922963"/>
          </a:xfrm>
        </p:spPr>
        <p:txBody>
          <a:bodyPr/>
          <a:lstStyle/>
          <a:p>
            <a:r>
              <a:rPr lang="en-US" dirty="0"/>
              <a:t>Setup and Test Execution</a:t>
            </a:r>
          </a:p>
        </p:txBody>
      </p:sp>
      <p:pic>
        <p:nvPicPr>
          <p:cNvPr id="6" name="Picture 5" descr="A circuit board with wires and wires&#10;&#10;AI-generated content may be incorrect.">
            <a:extLst>
              <a:ext uri="{FF2B5EF4-FFF2-40B4-BE49-F238E27FC236}">
                <a16:creationId xmlns:a16="http://schemas.microsoft.com/office/drawing/2014/main" id="{C03DE627-D22B-95AD-F3DC-63A06C00F169}"/>
              </a:ext>
            </a:extLst>
          </p:cNvPr>
          <p:cNvPicPr>
            <a:picLocks noChangeAspect="1"/>
          </p:cNvPicPr>
          <p:nvPr/>
        </p:nvPicPr>
        <p:blipFill>
          <a:blip r:embed="rId2">
            <a:extLst>
              <a:ext uri="{28A0092B-C50C-407E-A947-70E740481C1C}">
                <a14:useLocalDpi xmlns:a14="http://schemas.microsoft.com/office/drawing/2010/main" val="0"/>
              </a:ext>
            </a:extLst>
          </a:blip>
          <a:srcRect l="22445" t="5979" r="6542" b="8000"/>
          <a:stretch>
            <a:fillRect/>
          </a:stretch>
        </p:blipFill>
        <p:spPr>
          <a:xfrm>
            <a:off x="8018188" y="820261"/>
            <a:ext cx="3652604" cy="5899331"/>
          </a:xfrm>
          <a:prstGeom prst="rect">
            <a:avLst/>
          </a:prstGeom>
        </p:spPr>
      </p:pic>
      <p:sp>
        <p:nvSpPr>
          <p:cNvPr id="8" name="TextBox 7">
            <a:extLst>
              <a:ext uri="{FF2B5EF4-FFF2-40B4-BE49-F238E27FC236}">
                <a16:creationId xmlns:a16="http://schemas.microsoft.com/office/drawing/2014/main" id="{33A09476-BB93-7768-2EB9-782751823ABC}"/>
              </a:ext>
            </a:extLst>
          </p:cNvPr>
          <p:cNvSpPr txBox="1"/>
          <p:nvPr/>
        </p:nvSpPr>
        <p:spPr>
          <a:xfrm>
            <a:off x="521208" y="1901371"/>
            <a:ext cx="7089116"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To run this test, we connected the </a:t>
            </a:r>
            <a:r>
              <a:rPr lang="en-US" dirty="0" err="1"/>
              <a:t>Vout</a:t>
            </a:r>
            <a:r>
              <a:rPr lang="en-US" dirty="0"/>
              <a:t> of the TMP36 to the AIN0 of the ADS1115 to read the temperature/voltage output measurements. We also connected AIN1 to the GND of the TMP36.</a:t>
            </a:r>
          </a:p>
          <a:p>
            <a:pPr marL="285750" indent="-285750">
              <a:buFont typeface="Arial" panose="020B0604020202020204" pitchFamily="34" charset="0"/>
              <a:buChar char="•"/>
            </a:pPr>
            <a:r>
              <a:rPr lang="en-US" dirty="0"/>
              <a:t>The differential voltage measurement is taken between AIN0 and AIN1 and the single ended voltage was measured between the AIN0 pin and local ground near the ADS1115.</a:t>
            </a:r>
          </a:p>
          <a:p>
            <a:pPr marL="285750" indent="-285750">
              <a:buFont typeface="Arial" panose="020B0604020202020204" pitchFamily="34" charset="0"/>
              <a:buChar char="•"/>
            </a:pPr>
            <a:r>
              <a:rPr lang="en-US" dirty="0"/>
              <a:t>The temperature measured at 740 mV with the differential measurement can be calculated as: </a:t>
            </a:r>
          </a:p>
          <a:p>
            <a:pPr marL="742950" lvl="1" indent="-285750">
              <a:buFont typeface="Arial" panose="020B0604020202020204" pitchFamily="34" charset="0"/>
              <a:buChar char="•"/>
            </a:pPr>
            <a:r>
              <a:rPr lang="en-US" dirty="0"/>
              <a:t>Temp(</a:t>
            </a:r>
            <a:r>
              <a:rPr lang="en-US" dirty="0">
                <a:latin typeface="Aptos" panose="020B0004020202020204" pitchFamily="34" charset="0"/>
              </a:rPr>
              <a:t>˚C)</a:t>
            </a:r>
            <a:r>
              <a:rPr lang="en-US" dirty="0"/>
              <a:t> = 0.74V - 100</a:t>
            </a:r>
            <a:r>
              <a:rPr lang="en-US" dirty="0">
                <a:latin typeface="Aptos" panose="020B0004020202020204" pitchFamily="34" charset="0"/>
              </a:rPr>
              <a:t>˚C/V - 50˚C = 24 ˚C</a:t>
            </a:r>
          </a:p>
          <a:p>
            <a:pPr marL="742950" lvl="1" indent="-285750">
              <a:buFont typeface="Arial" panose="020B0604020202020204" pitchFamily="34" charset="0"/>
              <a:buChar char="•"/>
            </a:pPr>
            <a:r>
              <a:rPr lang="en-US" dirty="0">
                <a:latin typeface="Aptos" panose="020B0004020202020204" pitchFamily="34" charset="0"/>
              </a:rPr>
              <a:t>23 ˚C *1.8 +32 = 75.2 ˚F</a:t>
            </a:r>
          </a:p>
          <a:p>
            <a:endParaRPr lang="en-US" dirty="0">
              <a:latin typeface="Aptos" panose="020B0004020202020204" pitchFamily="34" charset="0"/>
            </a:endParaRPr>
          </a:p>
          <a:p>
            <a:pPr marL="285750" indent="-285750">
              <a:buFont typeface="Arial" panose="020B0604020202020204" pitchFamily="34" charset="0"/>
              <a:buChar char="•"/>
            </a:pPr>
            <a:endParaRPr lang="en-US" dirty="0">
              <a:latin typeface="Aptos" panose="020B0004020202020204" pitchFamily="34" charset="0"/>
            </a:endParaRP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19696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AF52F68-C2B4-6638-EC27-F59BC2E69A8F}"/>
              </a:ext>
            </a:extLst>
          </p:cNvPr>
          <p:cNvSpPr txBox="1"/>
          <p:nvPr/>
        </p:nvSpPr>
        <p:spPr>
          <a:xfrm>
            <a:off x="6992423" y="878113"/>
            <a:ext cx="3752181" cy="1200329"/>
          </a:xfrm>
          <a:prstGeom prst="rect">
            <a:avLst/>
          </a:prstGeom>
          <a:noFill/>
        </p:spPr>
        <p:txBody>
          <a:bodyPr wrap="none" rtlCol="0">
            <a:spAutoFit/>
          </a:bodyPr>
          <a:lstStyle/>
          <a:p>
            <a:pPr algn="ctr"/>
            <a:r>
              <a:rPr lang="en-US" dirty="0">
                <a:solidFill>
                  <a:schemeClr val="accent4">
                    <a:lumMod val="75000"/>
                  </a:schemeClr>
                </a:solidFill>
              </a:rPr>
              <a:t>Value 1 – Lower scale</a:t>
            </a:r>
          </a:p>
          <a:p>
            <a:pPr algn="ctr"/>
            <a:r>
              <a:rPr lang="en-US" dirty="0">
                <a:solidFill>
                  <a:schemeClr val="accent5">
                    <a:lumMod val="75000"/>
                  </a:schemeClr>
                </a:solidFill>
              </a:rPr>
              <a:t>Value 2 – Upper scale</a:t>
            </a:r>
          </a:p>
          <a:p>
            <a:pPr algn="ctr"/>
            <a:r>
              <a:rPr lang="en-US" dirty="0">
                <a:solidFill>
                  <a:schemeClr val="accent6">
                    <a:lumMod val="75000"/>
                  </a:schemeClr>
                </a:solidFill>
              </a:rPr>
              <a:t>Value 3 – Differential voltage (mV)</a:t>
            </a:r>
          </a:p>
          <a:p>
            <a:pPr algn="ctr"/>
            <a:r>
              <a:rPr lang="en-US" dirty="0">
                <a:solidFill>
                  <a:schemeClr val="accent1"/>
                </a:solidFill>
              </a:rPr>
              <a:t>Value 4 – Single-ended voltage (mV)</a:t>
            </a:r>
          </a:p>
        </p:txBody>
      </p:sp>
      <p:sp>
        <p:nvSpPr>
          <p:cNvPr id="13" name="TextBox 12">
            <a:extLst>
              <a:ext uri="{FF2B5EF4-FFF2-40B4-BE49-F238E27FC236}">
                <a16:creationId xmlns:a16="http://schemas.microsoft.com/office/drawing/2014/main" id="{D805A687-2ECF-8C3A-2A7B-EC88488471B9}"/>
              </a:ext>
            </a:extLst>
          </p:cNvPr>
          <p:cNvSpPr txBox="1"/>
          <p:nvPr/>
        </p:nvSpPr>
        <p:spPr>
          <a:xfrm>
            <a:off x="692106" y="996393"/>
            <a:ext cx="2310569" cy="830997"/>
          </a:xfrm>
          <a:prstGeom prst="rect">
            <a:avLst/>
          </a:prstGeom>
          <a:noFill/>
        </p:spPr>
        <p:txBody>
          <a:bodyPr wrap="none" rtlCol="0">
            <a:spAutoFit/>
          </a:bodyPr>
          <a:lstStyle/>
          <a:p>
            <a:r>
              <a:rPr lang="en-US" sz="4800" b="1" dirty="0"/>
              <a:t>Results</a:t>
            </a:r>
          </a:p>
        </p:txBody>
      </p:sp>
      <p:pic>
        <p:nvPicPr>
          <p:cNvPr id="5" name="Picture 4">
            <a:extLst>
              <a:ext uri="{FF2B5EF4-FFF2-40B4-BE49-F238E27FC236}">
                <a16:creationId xmlns:a16="http://schemas.microsoft.com/office/drawing/2014/main" id="{9BDF2DD5-5631-0A71-04FD-595EAC1ACE95}"/>
              </a:ext>
            </a:extLst>
          </p:cNvPr>
          <p:cNvPicPr>
            <a:picLocks noChangeAspect="1"/>
          </p:cNvPicPr>
          <p:nvPr/>
        </p:nvPicPr>
        <p:blipFill>
          <a:blip r:embed="rId2"/>
          <a:stretch>
            <a:fillRect/>
          </a:stretch>
        </p:blipFill>
        <p:spPr>
          <a:xfrm>
            <a:off x="4881638" y="2301667"/>
            <a:ext cx="7207577" cy="3678220"/>
          </a:xfrm>
          <a:prstGeom prst="rect">
            <a:avLst/>
          </a:prstGeom>
        </p:spPr>
      </p:pic>
      <p:sp>
        <p:nvSpPr>
          <p:cNvPr id="6" name="TextBox 5">
            <a:extLst>
              <a:ext uri="{FF2B5EF4-FFF2-40B4-BE49-F238E27FC236}">
                <a16:creationId xmlns:a16="http://schemas.microsoft.com/office/drawing/2014/main" id="{9EE625C5-3334-85BA-D2A4-44696A990719}"/>
              </a:ext>
            </a:extLst>
          </p:cNvPr>
          <p:cNvSpPr txBox="1"/>
          <p:nvPr/>
        </p:nvSpPr>
        <p:spPr>
          <a:xfrm>
            <a:off x="237067" y="1993295"/>
            <a:ext cx="4373638"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measured voltage is approximately 740 mV, as expected. It is interesting to test how well the sensor is working by gently squeezing it and watching the temperature increase due to body temperature. </a:t>
            </a:r>
          </a:p>
          <a:p>
            <a:pPr marL="285750" indent="-285750">
              <a:buFont typeface="Arial" panose="020B0604020202020204" pitchFamily="34" charset="0"/>
              <a:buChar char="•"/>
            </a:pPr>
            <a:r>
              <a:rPr lang="en-US" dirty="0"/>
              <a:t>The measurement taken for the differential voltage measurement shows that we can avoid the noise injected into our system, while the single-ended voltage measurement includes our noisy sine wave signal.</a:t>
            </a:r>
          </a:p>
          <a:p>
            <a:pPr marL="285750" indent="-285750">
              <a:buFont typeface="Arial" panose="020B0604020202020204" pitchFamily="34" charset="0"/>
              <a:buChar char="•"/>
            </a:pPr>
            <a:r>
              <a:rPr lang="en-US" dirty="0"/>
              <a:t>The single ended voltage measurement had a difference of 10 mV in its peak-to-peak reading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24409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4FA1A-F9CA-0E86-7F98-172B2375C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CEC91-BA94-C5FB-7D1D-9C2D60899712}"/>
              </a:ext>
            </a:extLst>
          </p:cNvPr>
          <p:cNvSpPr>
            <a:spLocks noGrp="1"/>
          </p:cNvSpPr>
          <p:nvPr>
            <p:ph type="title"/>
          </p:nvPr>
        </p:nvSpPr>
        <p:spPr>
          <a:xfrm>
            <a:off x="521208" y="978408"/>
            <a:ext cx="11155680" cy="840716"/>
          </a:xfrm>
        </p:spPr>
        <p:txBody>
          <a:bodyPr/>
          <a:lstStyle/>
          <a:p>
            <a:r>
              <a:rPr lang="en-US" dirty="0"/>
              <a:t>Conclusion</a:t>
            </a:r>
          </a:p>
        </p:txBody>
      </p:sp>
      <p:sp>
        <p:nvSpPr>
          <p:cNvPr id="5" name="TextBox 4">
            <a:extLst>
              <a:ext uri="{FF2B5EF4-FFF2-40B4-BE49-F238E27FC236}">
                <a16:creationId xmlns:a16="http://schemas.microsoft.com/office/drawing/2014/main" id="{A3185D97-8FCF-B210-2894-359BAB4799CD}"/>
              </a:ext>
            </a:extLst>
          </p:cNvPr>
          <p:cNvSpPr txBox="1"/>
          <p:nvPr/>
        </p:nvSpPr>
        <p:spPr>
          <a:xfrm>
            <a:off x="629289" y="2086944"/>
            <a:ext cx="10735734"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By using a differential method for measuring the voltage reading from the temperature sensor, we can get less noise and a more accurate signal. However, this method needs 4 measurement points instead of two as in the single ended measurement, which can be problematic when implemented into PCBs as board space can be limited in many cases. </a:t>
            </a:r>
          </a:p>
          <a:p>
            <a:pPr marL="285750" indent="-285750">
              <a:buFont typeface="Arial" panose="020B0604020202020204" pitchFamily="34" charset="0"/>
              <a:buChar char="•"/>
            </a:pPr>
            <a:r>
              <a:rPr lang="en-US" sz="2400" dirty="0"/>
              <a:t>The recommended way of routing the differential pair from the sensor to the ADS1115 for lowest noise would be to measure between the sensor </a:t>
            </a:r>
            <a:r>
              <a:rPr lang="en-US" sz="2400" dirty="0" err="1"/>
              <a:t>Vout</a:t>
            </a:r>
            <a:r>
              <a:rPr lang="en-US" sz="2400" dirty="0"/>
              <a:t> and its ground pin. </a:t>
            </a:r>
          </a:p>
        </p:txBody>
      </p:sp>
    </p:spTree>
    <p:extLst>
      <p:ext uri="{BB962C8B-B14F-4D97-AF65-F5344CB8AC3E}">
        <p14:creationId xmlns:p14="http://schemas.microsoft.com/office/powerpoint/2010/main" val="2184608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A8AA3-D0DE-8E4C-541D-94E8DC2BC186}"/>
              </a:ext>
            </a:extLst>
          </p:cNvPr>
          <p:cNvSpPr>
            <a:spLocks noGrp="1"/>
          </p:cNvSpPr>
          <p:nvPr>
            <p:ph type="title"/>
          </p:nvPr>
        </p:nvSpPr>
        <p:spPr/>
        <p:txBody>
          <a:bodyPr/>
          <a:lstStyle/>
          <a:p>
            <a:r>
              <a:rPr lang="en-US" dirty="0"/>
              <a:t>I2C pull up resistors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1E14854-5FF8-904F-CE57-D4F0687E5E09}"/>
                  </a:ext>
                </a:extLst>
              </p:cNvPr>
              <p:cNvSpPr>
                <a:spLocks noGrp="1"/>
              </p:cNvSpPr>
              <p:nvPr>
                <p:ph idx="1"/>
              </p:nvPr>
            </p:nvSpPr>
            <p:spPr/>
            <p:txBody>
              <a:bodyPr/>
              <a:lstStyle/>
              <a:p>
                <a:r>
                  <a:rPr lang="en-US" dirty="0"/>
                  <a:t>I2C refers to the two-wire serial communication bus with SDA (serial data line) and SCL (serial clock line)</a:t>
                </a:r>
              </a:p>
              <a:p>
                <a:r>
                  <a:rPr lang="en-US" dirty="0"/>
                  <a:t>Both lines are able to pull the device to a logical low (0), but not a logical high (1), so we must add a resistor to connect these pins to </a:t>
                </a:r>
                <a:r>
                  <a:rPr lang="en-US" dirty="0" err="1"/>
                  <a:t>Vcc</a:t>
                </a:r>
                <a:endParaRPr lang="en-US" dirty="0"/>
              </a:p>
              <a:p>
                <a:r>
                  <a:rPr lang="en-US" dirty="0"/>
                  <a:t>The data sheet includes the following: </a:t>
                </a:r>
              </a:p>
              <a:p>
                <a:endParaRPr lang="en-US" dirty="0"/>
              </a:p>
              <a:p>
                <a:endParaRPr lang="en-US" dirty="0"/>
              </a:p>
              <a:p>
                <a:r>
                  <a:rPr lang="en-US" dirty="0"/>
                  <a:t>So with a 100 pF capacitor for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𝑏</m:t>
                        </m:r>
                      </m:sub>
                    </m:sSub>
                  </m:oMath>
                </a14:m>
                <a:r>
                  <a:rPr lang="en-US" dirty="0"/>
                  <a:t> and a typical bus frequency of 100 kHz, the value of the pull-up resistor would need to be ~10kOhms </a:t>
                </a:r>
              </a:p>
            </p:txBody>
          </p:sp>
        </mc:Choice>
        <mc:Fallback>
          <p:sp>
            <p:nvSpPr>
              <p:cNvPr id="3" name="Content Placeholder 2">
                <a:extLst>
                  <a:ext uri="{FF2B5EF4-FFF2-40B4-BE49-F238E27FC236}">
                    <a16:creationId xmlns:a16="http://schemas.microsoft.com/office/drawing/2014/main" id="{51E14854-5FF8-904F-CE57-D4F0687E5E09}"/>
                  </a:ext>
                </a:extLst>
              </p:cNvPr>
              <p:cNvSpPr>
                <a:spLocks noGrp="1" noRot="1" noChangeAspect="1" noMove="1" noResize="1" noEditPoints="1" noAdjustHandles="1" noChangeArrowheads="1" noChangeShapeType="1" noTextEdit="1"/>
              </p:cNvSpPr>
              <p:nvPr>
                <p:ph idx="1"/>
              </p:nvPr>
            </p:nvSpPr>
            <p:spPr>
              <a:blipFill>
                <a:blip r:embed="rId2"/>
                <a:stretch>
                  <a:fillRect l="-383" t="-485"/>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20A11F3-001F-B7B5-AADA-E67389307CF6}"/>
              </a:ext>
            </a:extLst>
          </p:cNvPr>
          <p:cNvPicPr>
            <a:picLocks noChangeAspect="1"/>
          </p:cNvPicPr>
          <p:nvPr/>
        </p:nvPicPr>
        <p:blipFill>
          <a:blip r:embed="rId3"/>
          <a:srcRect l="-1" r="-87"/>
          <a:stretch>
            <a:fillRect/>
          </a:stretch>
        </p:blipFill>
        <p:spPr>
          <a:xfrm>
            <a:off x="2484784" y="4091407"/>
            <a:ext cx="7598464" cy="907976"/>
          </a:xfrm>
          <a:prstGeom prst="rect">
            <a:avLst/>
          </a:prstGeom>
        </p:spPr>
      </p:pic>
    </p:spTree>
    <p:extLst>
      <p:ext uri="{BB962C8B-B14F-4D97-AF65-F5344CB8AC3E}">
        <p14:creationId xmlns:p14="http://schemas.microsoft.com/office/powerpoint/2010/main" val="62161845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emplate>Basti_Haley_Lab18</Template>
  <TotalTime>1324</TotalTime>
  <Words>520</Words>
  <Application>Microsoft Office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Bierstadt</vt:lpstr>
      <vt:lpstr>Cambria Math</vt:lpstr>
      <vt:lpstr>GestaltVTI</vt:lpstr>
      <vt:lpstr>Lab 16:  Differential and SE voltage measurements</vt:lpstr>
      <vt:lpstr>Overview</vt:lpstr>
      <vt:lpstr>Setup and Test Execution</vt:lpstr>
      <vt:lpstr>PowerPoint Presentation</vt:lpstr>
      <vt:lpstr>Conclusion</vt:lpstr>
      <vt:lpstr>I2C pull up resistors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Haley Basti</dc:creator>
  <cp:lastModifiedBy>Haley Basti</cp:lastModifiedBy>
  <cp:revision>1</cp:revision>
  <dcterms:created xsi:type="dcterms:W3CDTF">2025-10-27T17:38:16Z</dcterms:created>
  <dcterms:modified xsi:type="dcterms:W3CDTF">2025-10-28T15:46:30Z</dcterms:modified>
</cp:coreProperties>
</file>